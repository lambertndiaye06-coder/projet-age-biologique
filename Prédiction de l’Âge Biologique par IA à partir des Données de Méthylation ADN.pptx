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exend Deca" charset="1" panose="00000000000000000000"/>
      <p:regular r:id="rId23"/>
    </p:embeddedFont>
    <p:embeddedFont>
      <p:font typeface="Noto Serif Display ExtraCondensed Heavy Italics" charset="1" panose="02020A0608050509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91074" y="4522982"/>
            <a:ext cx="3426506" cy="1876012"/>
          </a:xfrm>
          <a:custGeom>
            <a:avLst/>
            <a:gdLst/>
            <a:ahLst/>
            <a:cxnLst/>
            <a:rect r="r" b="b" t="t" l="l"/>
            <a:pathLst>
              <a:path h="1876012" w="3426506">
                <a:moveTo>
                  <a:pt x="0" y="0"/>
                </a:moveTo>
                <a:lnTo>
                  <a:pt x="3426507" y="0"/>
                </a:lnTo>
                <a:lnTo>
                  <a:pt x="3426507" y="1876012"/>
                </a:lnTo>
                <a:lnTo>
                  <a:pt x="0" y="187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6864" y="-1507257"/>
            <a:ext cx="2227136" cy="4114800"/>
          </a:xfrm>
          <a:custGeom>
            <a:avLst/>
            <a:gdLst/>
            <a:ahLst/>
            <a:cxnLst/>
            <a:rect r="r" b="b" t="t" l="l"/>
            <a:pathLst>
              <a:path h="4114800" w="2227136">
                <a:moveTo>
                  <a:pt x="0" y="0"/>
                </a:moveTo>
                <a:lnTo>
                  <a:pt x="2227136" y="0"/>
                </a:lnTo>
                <a:lnTo>
                  <a:pt x="22271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50418"/>
            <a:ext cx="14262374" cy="307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793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Prédiction de l’âge Biologique à partir de la Méthylation ADN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892973" y="0"/>
            <a:ext cx="3395027" cy="3395027"/>
          </a:xfrm>
          <a:custGeom>
            <a:avLst/>
            <a:gdLst/>
            <a:ahLst/>
            <a:cxnLst/>
            <a:rect r="r" b="b" t="t" l="l"/>
            <a:pathLst>
              <a:path h="3395027" w="3395027">
                <a:moveTo>
                  <a:pt x="0" y="0"/>
                </a:moveTo>
                <a:lnTo>
                  <a:pt x="3395027" y="0"/>
                </a:lnTo>
                <a:lnTo>
                  <a:pt x="3395027" y="3395027"/>
                </a:lnTo>
                <a:lnTo>
                  <a:pt x="0" y="3395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25338"/>
            <a:ext cx="4924729" cy="2108075"/>
          </a:xfrm>
          <a:custGeom>
            <a:avLst/>
            <a:gdLst/>
            <a:ahLst/>
            <a:cxnLst/>
            <a:rect r="r" b="b" t="t" l="l"/>
            <a:pathLst>
              <a:path h="2108075" w="4924729">
                <a:moveTo>
                  <a:pt x="0" y="0"/>
                </a:moveTo>
                <a:lnTo>
                  <a:pt x="4924729" y="0"/>
                </a:lnTo>
                <a:lnTo>
                  <a:pt x="4924729" y="2108076"/>
                </a:lnTo>
                <a:lnTo>
                  <a:pt x="0" y="21080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67510" y="7729801"/>
            <a:ext cx="503681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Soutenue par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03821" y="8311415"/>
            <a:ext cx="5036818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Lambert Ndiaye</a:t>
            </a:r>
          </a:p>
          <a:p>
            <a:pPr algn="r">
              <a:lnSpc>
                <a:spcPts val="4199"/>
              </a:lnSpc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Oumar Abakar</a:t>
            </a:r>
          </a:p>
          <a:p>
            <a:pPr algn="r">
              <a:lnSpc>
                <a:spcPts val="4199"/>
              </a:lnSpc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Ass Ndiaye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2167" y="7313807"/>
            <a:ext cx="35230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</a:t>
            </a: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ous la supervision de: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6637" y="7926651"/>
            <a:ext cx="3070785" cy="9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3"/>
              </a:lnSpc>
            </a:pPr>
            <a:r>
              <a:rPr lang="en-US" sz="263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Nourddine Azzaoui</a:t>
            </a:r>
          </a:p>
          <a:p>
            <a:pPr algn="ctr">
              <a:lnSpc>
                <a:spcPts val="3683"/>
              </a:lnSpc>
              <a:spcBef>
                <a:spcPct val="0"/>
              </a:spcBef>
            </a:pPr>
            <a:r>
              <a:rPr lang="en-US" sz="263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Sylvain Moinard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2329" y="1575631"/>
            <a:ext cx="1058331" cy="1149318"/>
          </a:xfrm>
          <a:custGeom>
            <a:avLst/>
            <a:gdLst/>
            <a:ahLst/>
            <a:cxnLst/>
            <a:rect r="r" b="b" t="t" l="l"/>
            <a:pathLst>
              <a:path h="1149318" w="1058331">
                <a:moveTo>
                  <a:pt x="0" y="0"/>
                </a:moveTo>
                <a:lnTo>
                  <a:pt x="1058331" y="0"/>
                </a:lnTo>
                <a:lnTo>
                  <a:pt x="1058331" y="1149318"/>
                </a:lnTo>
                <a:lnTo>
                  <a:pt x="0" y="1149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16385" y="1575631"/>
            <a:ext cx="404027" cy="4040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781050"/>
            <a:ext cx="3675003" cy="218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08"/>
              </a:lnSpc>
              <a:spcBef>
                <a:spcPct val="0"/>
              </a:spcBef>
            </a:pPr>
            <a:r>
              <a:rPr lang="en-US" sz="1272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1581" y="3505999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57467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Contexte scientifique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581" y="5250210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Objectifs du projet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5909" y="3505999"/>
            <a:ext cx="57155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Modèles testés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05909" y="4359339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Résultats obtenus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05909" y="6310660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581" y="6310660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Données utilisées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1581" y="7375696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Prétraitement des données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05909" y="5250210"/>
            <a:ext cx="503681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Limites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3282" y="8090275"/>
            <a:ext cx="4196360" cy="854531"/>
          </a:xfrm>
          <a:custGeom>
            <a:avLst/>
            <a:gdLst/>
            <a:ahLst/>
            <a:cxnLst/>
            <a:rect r="r" b="b" t="t" l="l"/>
            <a:pathLst>
              <a:path h="854531" w="4196360">
                <a:moveTo>
                  <a:pt x="0" y="0"/>
                </a:moveTo>
                <a:lnTo>
                  <a:pt x="4196360" y="0"/>
                </a:lnTo>
                <a:lnTo>
                  <a:pt x="4196360" y="854532"/>
                </a:lnTo>
                <a:lnTo>
                  <a:pt x="0" y="854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65838" y="5531008"/>
            <a:ext cx="4321681" cy="2881121"/>
          </a:xfrm>
          <a:custGeom>
            <a:avLst/>
            <a:gdLst/>
            <a:ahLst/>
            <a:cxnLst/>
            <a:rect r="r" b="b" t="t" l="l"/>
            <a:pathLst>
              <a:path h="2881121" w="4321681">
                <a:moveTo>
                  <a:pt x="0" y="0"/>
                </a:moveTo>
                <a:lnTo>
                  <a:pt x="4321681" y="0"/>
                </a:lnTo>
                <a:lnTo>
                  <a:pt x="4321681" y="2881121"/>
                </a:lnTo>
                <a:lnTo>
                  <a:pt x="0" y="2881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3879" y="4164809"/>
            <a:ext cx="6998484" cy="140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5662" indent="-217831" lvl="1">
              <a:lnSpc>
                <a:spcPts val="2825"/>
              </a:lnSpc>
              <a:buFont typeface="Arial"/>
              <a:buChar char="•"/>
            </a:pPr>
            <a:r>
              <a:rPr lang="en-US" sz="2017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L’âge chronologique ≠ état réel du corps</a:t>
            </a:r>
          </a:p>
          <a:p>
            <a:pPr algn="ctr" marL="435662" indent="-217831" lvl="1">
              <a:lnSpc>
                <a:spcPts val="2825"/>
              </a:lnSpc>
              <a:buFont typeface="Arial"/>
              <a:buChar char="•"/>
            </a:pPr>
            <a:r>
              <a:rPr lang="en-US" sz="2017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017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Deux personnes du même âge → vieillissement différent</a:t>
            </a:r>
          </a:p>
          <a:p>
            <a:pPr algn="ctr">
              <a:lnSpc>
                <a:spcPts val="282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43879" y="212898"/>
            <a:ext cx="811709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  <a:spcBef>
                <a:spcPct val="0"/>
              </a:spcBef>
            </a:pPr>
            <a:r>
              <a:rPr lang="en-US" sz="144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42364" y="2828265"/>
            <a:ext cx="6524503" cy="114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i="true" spc="122">
                <a:solidFill>
                  <a:srgbClr val="333333"/>
                </a:solidFill>
                <a:latin typeface="Noto Serif Display ExtraCondensed Heavy Italics"/>
                <a:ea typeface="Noto Serif Display ExtraCondensed Heavy Italics"/>
                <a:cs typeface="Noto Serif Display ExtraCondensed Heavy Italics"/>
                <a:sym typeface="Noto Serif Display ExtraCondensed Heavy Italics"/>
              </a:rPr>
              <a:t>Pourquoi prédire l’âge biologique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5588" y="1003324"/>
            <a:ext cx="11143485" cy="189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5"/>
              </a:lnSpc>
              <a:spcBef>
                <a:spcPct val="0"/>
              </a:spcBef>
            </a:pPr>
            <a:r>
              <a:rPr lang="en-US" sz="1106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Problématique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42364" y="4819700"/>
            <a:ext cx="8716936" cy="308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L’âge biologique dépend de :</a:t>
            </a:r>
          </a:p>
          <a:p>
            <a:pPr algn="ctr" marL="542637" indent="-271319" lvl="1">
              <a:lnSpc>
                <a:spcPts val="3518"/>
              </a:lnSpc>
              <a:buFont typeface="Arial"/>
              <a:buChar char="•"/>
            </a:pP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Génétique</a:t>
            </a:r>
          </a:p>
          <a:p>
            <a:pPr algn="ctr" marL="542637" indent="-271319" lvl="1">
              <a:lnSpc>
                <a:spcPts val="3518"/>
              </a:lnSpc>
              <a:buFont typeface="Arial"/>
              <a:buChar char="•"/>
            </a:pP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Mode de vie</a:t>
            </a:r>
          </a:p>
          <a:p>
            <a:pPr algn="ctr" marL="542637" indent="-271319" lvl="1">
              <a:lnSpc>
                <a:spcPts val="3518"/>
              </a:lnSpc>
              <a:buFont typeface="Arial"/>
              <a:buChar char="•"/>
            </a:pP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Stress</a:t>
            </a:r>
          </a:p>
          <a:p>
            <a:pPr algn="ctr" marL="542637" indent="-271319" lvl="1">
              <a:lnSpc>
                <a:spcPts val="3518"/>
              </a:lnSpc>
              <a:buFont typeface="Arial"/>
              <a:buChar char="•"/>
            </a:pP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Maladies</a:t>
            </a:r>
          </a:p>
          <a:p>
            <a:pPr algn="ctr" marL="542637" indent="-271319" lvl="1">
              <a:lnSpc>
                <a:spcPts val="3518"/>
              </a:lnSpc>
              <a:buFont typeface="Arial"/>
              <a:buChar char="•"/>
            </a:pPr>
            <a:r>
              <a:rPr lang="en-US" sz="2513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Environnement</a:t>
            </a: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43879" y="9191625"/>
            <a:ext cx="12309042" cy="56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i="true" spc="122">
                <a:solidFill>
                  <a:srgbClr val="333333"/>
                </a:solidFill>
                <a:latin typeface="Noto Serif Display ExtraCondensed Heavy Italics"/>
                <a:ea typeface="Noto Serif Display ExtraCondensed Heavy Italics"/>
                <a:cs typeface="Noto Serif Display ExtraCondensed Heavy Italics"/>
                <a:sym typeface="Noto Serif Display ExtraCondensed Heavy Italics"/>
              </a:rPr>
              <a:t>Objectif : mesurer le véritable vieillissement du corps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69409" y="697524"/>
            <a:ext cx="3967756" cy="2099422"/>
          </a:xfrm>
          <a:custGeom>
            <a:avLst/>
            <a:gdLst/>
            <a:ahLst/>
            <a:cxnLst/>
            <a:rect r="r" b="b" t="t" l="l"/>
            <a:pathLst>
              <a:path h="2099422" w="3967756">
                <a:moveTo>
                  <a:pt x="0" y="0"/>
                </a:moveTo>
                <a:lnTo>
                  <a:pt x="3967756" y="0"/>
                </a:lnTo>
                <a:lnTo>
                  <a:pt x="3967756" y="2099422"/>
                </a:lnTo>
                <a:lnTo>
                  <a:pt x="0" y="2099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17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4746" y="5143500"/>
            <a:ext cx="4143424" cy="2365546"/>
          </a:xfrm>
          <a:custGeom>
            <a:avLst/>
            <a:gdLst/>
            <a:ahLst/>
            <a:cxnLst/>
            <a:rect r="r" b="b" t="t" l="l"/>
            <a:pathLst>
              <a:path h="2365546" w="4143424">
                <a:moveTo>
                  <a:pt x="0" y="0"/>
                </a:moveTo>
                <a:lnTo>
                  <a:pt x="4143425" y="0"/>
                </a:lnTo>
                <a:lnTo>
                  <a:pt x="4143425" y="2365546"/>
                </a:lnTo>
                <a:lnTo>
                  <a:pt x="0" y="2365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62050"/>
            <a:ext cx="9346621" cy="252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0"/>
              </a:lnSpc>
            </a:pPr>
            <a:r>
              <a:rPr lang="en-US" sz="6606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La méthylation de l’ADN : principe scientifique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6594" y="3973003"/>
            <a:ext cx="5707429" cy="419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99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Principe :</a:t>
            </a:r>
          </a:p>
          <a:p>
            <a:pPr algn="l" marL="646047" indent="-323024" lvl="1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Ajout d’un groupe méthyle sur l’ADN</a:t>
            </a:r>
          </a:p>
          <a:p>
            <a:pPr algn="l" marL="646047" indent="-323024" lvl="1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Modifie l’expression des gènes</a:t>
            </a:r>
          </a:p>
          <a:p>
            <a:pPr algn="l" marL="646047" indent="-323024" lvl="1">
              <a:lnSpc>
                <a:spcPts val="4189"/>
              </a:lnSpc>
              <a:buFont typeface="Arial"/>
              <a:buChar char="•"/>
            </a:pPr>
            <a:r>
              <a:rPr lang="en-US" sz="299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Certains sites CpG évoluent avec l’âge</a:t>
            </a:r>
          </a:p>
          <a:p>
            <a:pPr algn="l">
              <a:lnSpc>
                <a:spcPts val="418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446062" y="8124779"/>
            <a:ext cx="799110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Utilisée comme biomarqueur du vieillissement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24746" y="2739796"/>
            <a:ext cx="5608283" cy="252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Valeur β (niveau de méthylation)</a:t>
            </a:r>
          </a:p>
          <a:p>
            <a:pPr algn="l" marL="622332" indent="-311166" lvl="1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0 → non méthylé</a:t>
            </a:r>
          </a:p>
          <a:p>
            <a:pPr algn="l" marL="622332" indent="-311166" lvl="1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1 → totalement méthylé</a:t>
            </a:r>
          </a:p>
          <a:p>
            <a:pPr algn="l">
              <a:lnSpc>
                <a:spcPts val="403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74858" y="2880835"/>
            <a:ext cx="1058331" cy="1149318"/>
          </a:xfrm>
          <a:custGeom>
            <a:avLst/>
            <a:gdLst/>
            <a:ahLst/>
            <a:cxnLst/>
            <a:rect r="r" b="b" t="t" l="l"/>
            <a:pathLst>
              <a:path h="1149318" w="1058331">
                <a:moveTo>
                  <a:pt x="0" y="0"/>
                </a:moveTo>
                <a:lnTo>
                  <a:pt x="1058331" y="0"/>
                </a:lnTo>
                <a:lnTo>
                  <a:pt x="1058331" y="1149318"/>
                </a:lnTo>
                <a:lnTo>
                  <a:pt x="0" y="114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137427" y="3030403"/>
          <a:ext cx="9200793" cy="5981700"/>
        </p:xfrm>
        <a:graphic>
          <a:graphicData uri="http://schemas.openxmlformats.org/drawingml/2006/table">
            <a:tbl>
              <a:tblPr/>
              <a:tblGrid>
                <a:gridCol w="4600396"/>
                <a:gridCol w="4600396"/>
              </a:tblGrid>
              <a:tr h="8531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Élément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Valeur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7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Échantillons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~400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7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Sites CpG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894 006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7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Type de tissu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Sang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7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Variable cible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Âge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7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Plateforme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Illumina EPIC 850K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162050"/>
            <a:ext cx="7483201" cy="87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0"/>
              </a:lnSpc>
            </a:pPr>
            <a:r>
              <a:rPr lang="en-US" sz="6606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Données utilisées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77691" y="6622581"/>
            <a:ext cx="4981609" cy="2389522"/>
            <a:chOff x="0" y="0"/>
            <a:chExt cx="1312029" cy="629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2029" cy="629339"/>
            </a:xfrm>
            <a:custGeom>
              <a:avLst/>
              <a:gdLst/>
              <a:ahLst/>
              <a:cxnLst/>
              <a:rect r="r" b="b" t="t" l="l"/>
              <a:pathLst>
                <a:path h="629339" w="1312029">
                  <a:moveTo>
                    <a:pt x="26420" y="0"/>
                  </a:moveTo>
                  <a:lnTo>
                    <a:pt x="1285609" y="0"/>
                  </a:lnTo>
                  <a:cubicBezTo>
                    <a:pt x="1292616" y="0"/>
                    <a:pt x="1299336" y="2783"/>
                    <a:pt x="1304291" y="7738"/>
                  </a:cubicBezTo>
                  <a:cubicBezTo>
                    <a:pt x="1309245" y="12693"/>
                    <a:pt x="1312029" y="19413"/>
                    <a:pt x="1312029" y="26420"/>
                  </a:cubicBezTo>
                  <a:lnTo>
                    <a:pt x="1312029" y="602920"/>
                  </a:lnTo>
                  <a:cubicBezTo>
                    <a:pt x="1312029" y="609926"/>
                    <a:pt x="1309245" y="616646"/>
                    <a:pt x="1304291" y="621601"/>
                  </a:cubicBezTo>
                  <a:cubicBezTo>
                    <a:pt x="1299336" y="626556"/>
                    <a:pt x="1292616" y="629339"/>
                    <a:pt x="1285609" y="629339"/>
                  </a:cubicBezTo>
                  <a:lnTo>
                    <a:pt x="26420" y="629339"/>
                  </a:lnTo>
                  <a:cubicBezTo>
                    <a:pt x="11829" y="629339"/>
                    <a:pt x="0" y="617511"/>
                    <a:pt x="0" y="602920"/>
                  </a:cubicBezTo>
                  <a:lnTo>
                    <a:pt x="0" y="26420"/>
                  </a:lnTo>
                  <a:cubicBezTo>
                    <a:pt x="0" y="19413"/>
                    <a:pt x="2783" y="12693"/>
                    <a:pt x="7738" y="7738"/>
                  </a:cubicBezTo>
                  <a:cubicBezTo>
                    <a:pt x="12693" y="2783"/>
                    <a:pt x="19413" y="0"/>
                    <a:pt x="26420" y="0"/>
                  </a:cubicBezTo>
                  <a:close/>
                </a:path>
              </a:pathLst>
            </a:custGeom>
            <a:solidFill>
              <a:srgbClr val="29418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12029" cy="67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518"/>
                </a:lnSpc>
              </a:pPr>
              <a:r>
                <a:rPr lang="en-US" sz="2513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Problème :</a:t>
              </a:r>
            </a:p>
            <a:p>
              <a:pPr algn="just">
                <a:lnSpc>
                  <a:spcPts val="3518"/>
                </a:lnSpc>
              </a:pPr>
              <a:r>
                <a:rPr lang="en-US" sz="2513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➡️ Beaucoup de variables, Peu d’individus </a:t>
              </a:r>
            </a:p>
            <a:p>
              <a:pPr algn="just">
                <a:lnSpc>
                  <a:spcPts val="3518"/>
                </a:lnSpc>
              </a:pPr>
              <a:r>
                <a:rPr lang="en-US" sz="2513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➡️Risque de surapprentissage (overfitting)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14465" y="-1480544"/>
            <a:ext cx="5725837" cy="4719044"/>
          </a:xfrm>
          <a:custGeom>
            <a:avLst/>
            <a:gdLst/>
            <a:ahLst/>
            <a:cxnLst/>
            <a:rect r="r" b="b" t="t" l="l"/>
            <a:pathLst>
              <a:path h="4719044" w="5725837">
                <a:moveTo>
                  <a:pt x="0" y="0"/>
                </a:moveTo>
                <a:lnTo>
                  <a:pt x="5725837" y="0"/>
                </a:lnTo>
                <a:lnTo>
                  <a:pt x="5725837" y="4719044"/>
                </a:lnTo>
                <a:lnTo>
                  <a:pt x="0" y="47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31873" y="1525551"/>
            <a:ext cx="3426506" cy="1876012"/>
          </a:xfrm>
          <a:custGeom>
            <a:avLst/>
            <a:gdLst/>
            <a:ahLst/>
            <a:cxnLst/>
            <a:rect r="r" b="b" t="t" l="l"/>
            <a:pathLst>
              <a:path h="1876012" w="3426506">
                <a:moveTo>
                  <a:pt x="0" y="0"/>
                </a:moveTo>
                <a:lnTo>
                  <a:pt x="3426506" y="0"/>
                </a:lnTo>
                <a:lnTo>
                  <a:pt x="3426506" y="1876013"/>
                </a:lnTo>
                <a:lnTo>
                  <a:pt x="0" y="18760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7384" y="2317932"/>
            <a:ext cx="11516357" cy="34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2706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Le modèle est entraîné sur un jeu de données de méthylation ADN.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1354" y="4128639"/>
            <a:ext cx="1257470" cy="1284771"/>
          </a:xfrm>
          <a:custGeom>
            <a:avLst/>
            <a:gdLst/>
            <a:ahLst/>
            <a:cxnLst/>
            <a:rect r="r" b="b" t="t" l="l"/>
            <a:pathLst>
              <a:path h="1284771" w="1257470">
                <a:moveTo>
                  <a:pt x="0" y="0"/>
                </a:moveTo>
                <a:lnTo>
                  <a:pt x="1257470" y="0"/>
                </a:lnTo>
                <a:lnTo>
                  <a:pt x="1257470" y="1284771"/>
                </a:lnTo>
                <a:lnTo>
                  <a:pt x="0" y="1284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3824" y="4114482"/>
            <a:ext cx="935228" cy="1298928"/>
          </a:xfrm>
          <a:custGeom>
            <a:avLst/>
            <a:gdLst/>
            <a:ahLst/>
            <a:cxnLst/>
            <a:rect r="r" b="b" t="t" l="l"/>
            <a:pathLst>
              <a:path h="1298928" w="935228">
                <a:moveTo>
                  <a:pt x="0" y="0"/>
                </a:moveTo>
                <a:lnTo>
                  <a:pt x="935227" y="0"/>
                </a:lnTo>
                <a:lnTo>
                  <a:pt x="935227" y="1298928"/>
                </a:lnTo>
                <a:lnTo>
                  <a:pt x="0" y="1298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6830" y="3941555"/>
            <a:ext cx="1196578" cy="1644781"/>
          </a:xfrm>
          <a:custGeom>
            <a:avLst/>
            <a:gdLst/>
            <a:ahLst/>
            <a:cxnLst/>
            <a:rect r="r" b="b" t="t" l="l"/>
            <a:pathLst>
              <a:path h="1644781" w="1196578">
                <a:moveTo>
                  <a:pt x="0" y="0"/>
                </a:moveTo>
                <a:lnTo>
                  <a:pt x="1196578" y="0"/>
                </a:lnTo>
                <a:lnTo>
                  <a:pt x="1196578" y="1644781"/>
                </a:lnTo>
                <a:lnTo>
                  <a:pt x="0" y="1644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31401" y="3754472"/>
            <a:ext cx="1831864" cy="1831864"/>
          </a:xfrm>
          <a:custGeom>
            <a:avLst/>
            <a:gdLst/>
            <a:ahLst/>
            <a:cxnLst/>
            <a:rect r="r" b="b" t="t" l="l"/>
            <a:pathLst>
              <a:path h="1831864" w="1831864">
                <a:moveTo>
                  <a:pt x="0" y="0"/>
                </a:moveTo>
                <a:lnTo>
                  <a:pt x="1831864" y="0"/>
                </a:lnTo>
                <a:lnTo>
                  <a:pt x="1831864" y="1831864"/>
                </a:lnTo>
                <a:lnTo>
                  <a:pt x="0" y="18318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98232"/>
            <a:ext cx="11500703" cy="167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3"/>
              </a:lnSpc>
            </a:pPr>
            <a:r>
              <a:rPr lang="en-US" sz="1272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Prétraitement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760" y="6964045"/>
            <a:ext cx="4264128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Patients en Lignes</a:t>
            </a:r>
          </a:p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CpG en Colonne, </a:t>
            </a: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820893" y="5706744"/>
            <a:ext cx="495665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Transposition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de la matrice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3998" y="6964045"/>
            <a:ext cx="3836293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Les variables de métadonnées (sexe, ethnicité) ont été retirées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5632" y="5706744"/>
            <a:ext cx="474465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Suppression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variables inutiles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9380" y="6964045"/>
            <a:ext cx="4311154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Échantillons : exclus si &gt;10 % de valeurs manquantes. </a:t>
            </a:r>
          </a:p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CpG : exclus si &gt;0,1 % de valeurs manquantes → 782 711 CpG conservés</a:t>
            </a:r>
          </a:p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Imputation par la médiane de chaque CpG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7721" y="5706744"/>
            <a:ext cx="560843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Gestion valeurs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 manquantes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43114" y="5654674"/>
            <a:ext cx="560843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Standardisation &amp;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Split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9876" y="6797675"/>
            <a:ext cx="4146779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Train : 80% </a:t>
            </a:r>
          </a:p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Validation : 10% </a:t>
            </a:r>
          </a:p>
          <a:p>
            <a:pPr algn="l" marL="410213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Test : 10%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9473" y="1373151"/>
            <a:ext cx="3426506" cy="1876012"/>
          </a:xfrm>
          <a:custGeom>
            <a:avLst/>
            <a:gdLst/>
            <a:ahLst/>
            <a:cxnLst/>
            <a:rect r="r" b="b" t="t" l="l"/>
            <a:pathLst>
              <a:path h="1876012" w="3426506">
                <a:moveTo>
                  <a:pt x="0" y="0"/>
                </a:moveTo>
                <a:lnTo>
                  <a:pt x="3426506" y="0"/>
                </a:lnTo>
                <a:lnTo>
                  <a:pt x="3426506" y="1876013"/>
                </a:lnTo>
                <a:lnTo>
                  <a:pt x="0" y="1876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4104" y="3740150"/>
            <a:ext cx="9244224" cy="5437779"/>
          </a:xfrm>
          <a:custGeom>
            <a:avLst/>
            <a:gdLst/>
            <a:ahLst/>
            <a:cxnLst/>
            <a:rect r="r" b="b" t="t" l="l"/>
            <a:pathLst>
              <a:path h="5437779" w="9244224">
                <a:moveTo>
                  <a:pt x="0" y="0"/>
                </a:moveTo>
                <a:lnTo>
                  <a:pt x="9244224" y="0"/>
                </a:lnTo>
                <a:lnTo>
                  <a:pt x="9244224" y="5437779"/>
                </a:lnTo>
                <a:lnTo>
                  <a:pt x="0" y="5437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1269" y="1391528"/>
            <a:ext cx="11797450" cy="103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2"/>
              </a:lnSpc>
            </a:pPr>
            <a:r>
              <a:rPr lang="en-US" sz="792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Sélection des variables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6810" y="2708275"/>
            <a:ext cx="692499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i="true" spc="147">
                <a:solidFill>
                  <a:srgbClr val="333333"/>
                </a:solidFill>
                <a:latin typeface="Noto Serif Display ExtraCondensed Heavy Italics"/>
                <a:ea typeface="Noto Serif Display ExtraCondensed Heavy Italics"/>
                <a:cs typeface="Noto Serif Display ExtraCondensed Heavy Italics"/>
                <a:sym typeface="Noto Serif Display ExtraCondensed Heavy Italics"/>
              </a:rPr>
              <a:t>Réduction dimensionnelle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40275" y="4623435"/>
            <a:ext cx="7299584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22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Garder les CpG les plus informatifs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935" y="5898969"/>
            <a:ext cx="6931900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22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Corrélation de Pearson avec l’âge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362065" y="-1632944"/>
            <a:ext cx="5725837" cy="4719044"/>
          </a:xfrm>
          <a:custGeom>
            <a:avLst/>
            <a:gdLst/>
            <a:ahLst/>
            <a:cxnLst/>
            <a:rect r="r" b="b" t="t" l="l"/>
            <a:pathLst>
              <a:path h="4719044" w="5725837">
                <a:moveTo>
                  <a:pt x="0" y="0"/>
                </a:moveTo>
                <a:lnTo>
                  <a:pt x="5725837" y="0"/>
                </a:lnTo>
                <a:lnTo>
                  <a:pt x="5725837" y="4719044"/>
                </a:lnTo>
                <a:lnTo>
                  <a:pt x="0" y="4719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76650">
            <a:off x="-1784125" y="7135918"/>
            <a:ext cx="4992679" cy="4114800"/>
          </a:xfrm>
          <a:custGeom>
            <a:avLst/>
            <a:gdLst/>
            <a:ahLst/>
            <a:cxnLst/>
            <a:rect r="r" b="b" t="t" l="l"/>
            <a:pathLst>
              <a:path h="4114800" w="4992679">
                <a:moveTo>
                  <a:pt x="0" y="0"/>
                </a:moveTo>
                <a:lnTo>
                  <a:pt x="4992680" y="0"/>
                </a:lnTo>
                <a:lnTo>
                  <a:pt x="4992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71509" y="6529921"/>
            <a:ext cx="2163207" cy="3123765"/>
          </a:xfrm>
          <a:custGeom>
            <a:avLst/>
            <a:gdLst/>
            <a:ahLst/>
            <a:cxnLst/>
            <a:rect r="r" b="b" t="t" l="l"/>
            <a:pathLst>
              <a:path h="3123765" w="2163207">
                <a:moveTo>
                  <a:pt x="0" y="0"/>
                </a:moveTo>
                <a:lnTo>
                  <a:pt x="2163207" y="0"/>
                </a:lnTo>
                <a:lnTo>
                  <a:pt x="2163207" y="3123764"/>
                </a:lnTo>
                <a:lnTo>
                  <a:pt x="0" y="3123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67433" y="1474115"/>
            <a:ext cx="1314885" cy="1314885"/>
          </a:xfrm>
          <a:custGeom>
            <a:avLst/>
            <a:gdLst/>
            <a:ahLst/>
            <a:cxnLst/>
            <a:rect r="r" b="b" t="t" l="l"/>
            <a:pathLst>
              <a:path h="1314885" w="1314885">
                <a:moveTo>
                  <a:pt x="0" y="0"/>
                </a:moveTo>
                <a:lnTo>
                  <a:pt x="1314886" y="0"/>
                </a:lnTo>
                <a:lnTo>
                  <a:pt x="1314886" y="1314885"/>
                </a:lnTo>
                <a:lnTo>
                  <a:pt x="0" y="1314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04738" y="7086935"/>
            <a:ext cx="1040277" cy="1040277"/>
          </a:xfrm>
          <a:custGeom>
            <a:avLst/>
            <a:gdLst/>
            <a:ahLst/>
            <a:cxnLst/>
            <a:rect r="r" b="b" t="t" l="l"/>
            <a:pathLst>
              <a:path h="1040277" w="1040277">
                <a:moveTo>
                  <a:pt x="0" y="0"/>
                </a:moveTo>
                <a:lnTo>
                  <a:pt x="1040276" y="0"/>
                </a:lnTo>
                <a:lnTo>
                  <a:pt x="1040276" y="1040277"/>
                </a:lnTo>
                <a:lnTo>
                  <a:pt x="0" y="10402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9143" y="1257300"/>
            <a:ext cx="6812032" cy="293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06"/>
              </a:lnSpc>
            </a:pPr>
            <a:r>
              <a:rPr lang="en-US" sz="1142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Modèles testés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7643" y="2647077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Elastic Net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47643" y="3319977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XGBoost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47643" y="3992878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Random Forest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47643" y="4756345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PLS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47643" y="5516443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Gaussian Process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47643" y="6276540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Stacking Ensemble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81887" y="7372703"/>
            <a:ext cx="5407689" cy="44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4"/>
              </a:lnSpc>
              <a:spcBef>
                <a:spcPct val="0"/>
              </a:spcBef>
            </a:pPr>
            <a:r>
              <a:rPr lang="en-US" sz="3800" strike="noStrike" u="none">
                <a:solidFill>
                  <a:srgbClr val="00589B"/>
                </a:solidFill>
                <a:latin typeface="Lexend Deca"/>
                <a:ea typeface="Lexend Deca"/>
                <a:cs typeface="Lexend Deca"/>
                <a:sym typeface="Lexend Deca"/>
              </a:rPr>
              <a:t>Deep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7643" y="8212937"/>
            <a:ext cx="5407689" cy="36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AltumAge (DNN)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47643" y="1896632"/>
            <a:ext cx="7210572" cy="44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</a:pPr>
            <a:r>
              <a:rPr lang="en-US" sz="3700">
                <a:solidFill>
                  <a:srgbClr val="00589B"/>
                </a:solidFill>
                <a:latin typeface="Lexend Deca"/>
                <a:ea typeface="Lexend Deca"/>
                <a:cs typeface="Lexend Deca"/>
                <a:sym typeface="Lexend Deca"/>
              </a:rPr>
              <a:t>Méthodes de Machine Learning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90625"/>
            <a:ext cx="11378979" cy="100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8"/>
              </a:lnSpc>
            </a:pPr>
            <a:r>
              <a:rPr lang="en-US" sz="7705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Modèles Pré-entraînés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94449" y="2871338"/>
            <a:ext cx="447763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i="true" spc="147">
                <a:solidFill>
                  <a:srgbClr val="333333"/>
                </a:solidFill>
                <a:latin typeface="Noto Serif Display ExtraCondensed Heavy Italics"/>
                <a:ea typeface="Noto Serif Display ExtraCondensed Heavy Italics"/>
                <a:cs typeface="Noto Serif Display ExtraCondensed Heavy Italics"/>
                <a:sym typeface="Noto Serif Display ExtraCondensed Heavy Italics"/>
              </a:rPr>
              <a:t>Horloge de Zhang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15572"/>
            <a:ext cx="14685457" cy="158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22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Modèle publié sur +11 900 individus</a:t>
            </a:r>
          </a:p>
          <a:p>
            <a:pPr algn="l" marL="647697" indent="-323848" lvl="1">
              <a:lnSpc>
                <a:spcPts val="422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Seulement 10 CpG nécessaires</a:t>
            </a:r>
          </a:p>
          <a:p>
            <a:pPr algn="l" marL="647697" indent="-323848" lvl="1">
              <a:lnSpc>
                <a:spcPts val="4229"/>
              </a:lnSpc>
              <a:buFont typeface="Arial"/>
              <a:buChar char="•"/>
            </a:pPr>
            <a:r>
              <a:rPr lang="en-US" sz="2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Sur notre dataset : 7 CpG disponibles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362065" y="-1632944"/>
            <a:ext cx="5725837" cy="4719044"/>
          </a:xfrm>
          <a:custGeom>
            <a:avLst/>
            <a:gdLst/>
            <a:ahLst/>
            <a:cxnLst/>
            <a:rect r="r" b="b" t="t" l="l"/>
            <a:pathLst>
              <a:path h="4719044" w="5725837">
                <a:moveTo>
                  <a:pt x="0" y="0"/>
                </a:moveTo>
                <a:lnTo>
                  <a:pt x="5725837" y="0"/>
                </a:lnTo>
                <a:lnTo>
                  <a:pt x="5725837" y="4719044"/>
                </a:lnTo>
                <a:lnTo>
                  <a:pt x="0" y="47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79473" y="1373151"/>
            <a:ext cx="3426506" cy="1876012"/>
          </a:xfrm>
          <a:custGeom>
            <a:avLst/>
            <a:gdLst/>
            <a:ahLst/>
            <a:cxnLst/>
            <a:rect r="r" b="b" t="t" l="l"/>
            <a:pathLst>
              <a:path h="1876012" w="3426506">
                <a:moveTo>
                  <a:pt x="0" y="0"/>
                </a:moveTo>
                <a:lnTo>
                  <a:pt x="3426506" y="0"/>
                </a:lnTo>
                <a:lnTo>
                  <a:pt x="3426506" y="1876013"/>
                </a:lnTo>
                <a:lnTo>
                  <a:pt x="0" y="18760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5153" y="7054937"/>
            <a:ext cx="906187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i="true" spc="147">
                <a:solidFill>
                  <a:srgbClr val="00589B"/>
                </a:solidFill>
                <a:latin typeface="Noto Serif Display ExtraCondensed Heavy Italics"/>
                <a:ea typeface="Noto Serif Display ExtraCondensed Heavy Italics"/>
                <a:cs typeface="Noto Serif Display ExtraCondensed Heavy Italics"/>
                <a:sym typeface="Noto Serif Display ExtraCondensed Heavy Italics"/>
              </a:rPr>
              <a:t>MAE = 3.61 ans après fine-tuning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90473"/>
            <a:ext cx="6280762" cy="5335443"/>
          </a:xfrm>
          <a:custGeom>
            <a:avLst/>
            <a:gdLst/>
            <a:ahLst/>
            <a:cxnLst/>
            <a:rect r="r" b="b" t="t" l="l"/>
            <a:pathLst>
              <a:path h="5335443" w="6280762">
                <a:moveTo>
                  <a:pt x="0" y="0"/>
                </a:moveTo>
                <a:lnTo>
                  <a:pt x="6280762" y="0"/>
                </a:lnTo>
                <a:lnTo>
                  <a:pt x="6280762" y="5335443"/>
                </a:lnTo>
                <a:lnTo>
                  <a:pt x="0" y="53354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503237"/>
            <a:ext cx="18288000" cy="274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  <a:spcBef>
                <a:spcPct val="0"/>
              </a:spcBef>
            </a:pPr>
            <a:r>
              <a:rPr lang="en-US" sz="79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Introduction au deep learning : Al</a:t>
            </a:r>
            <a:r>
              <a:rPr lang="en-US" sz="79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tumAge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442848"/>
            <a:ext cx="7924222" cy="196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  <a:spcBef>
                <a:spcPct val="0"/>
              </a:spcBef>
            </a:pPr>
            <a:r>
              <a:rPr lang="en-US" sz="284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Résulta</a:t>
            </a:r>
            <a:r>
              <a:rPr lang="en-US" sz="284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 : </a:t>
            </a:r>
          </a:p>
          <a:p>
            <a:pPr algn="ctr">
              <a:lnSpc>
                <a:spcPts val="3979"/>
              </a:lnSpc>
              <a:spcBef>
                <a:spcPct val="0"/>
              </a:spcBef>
            </a:pPr>
            <a:r>
              <a:rPr lang="en-US" sz="284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📉 MAE = 4.92 ans </a:t>
            </a:r>
          </a:p>
          <a:p>
            <a:pPr algn="ctr">
              <a:lnSpc>
                <a:spcPts val="3979"/>
              </a:lnSpc>
              <a:spcBef>
                <a:spcPct val="0"/>
              </a:spcBef>
            </a:pPr>
            <a:r>
              <a:rPr lang="en-US" sz="284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⚠️ Limité par le faible nombre d’échantillons </a:t>
            </a:r>
          </a:p>
          <a:p>
            <a:pPr algn="ctr">
              <a:lnSpc>
                <a:spcPts val="39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309462" y="5848587"/>
            <a:ext cx="43148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Va</a:t>
            </a: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riables explicatives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37872" y="6456672"/>
            <a:ext cx="5671642" cy="43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2542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elations complexes et non linéaires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1076" y="3280590"/>
            <a:ext cx="14645849" cy="5315213"/>
          </a:xfrm>
          <a:custGeom>
            <a:avLst/>
            <a:gdLst/>
            <a:ahLst/>
            <a:cxnLst/>
            <a:rect r="r" b="b" t="t" l="l"/>
            <a:pathLst>
              <a:path h="5315213" w="14645849">
                <a:moveTo>
                  <a:pt x="0" y="0"/>
                </a:moveTo>
                <a:lnTo>
                  <a:pt x="14645848" y="0"/>
                </a:lnTo>
                <a:lnTo>
                  <a:pt x="14645848" y="5315213"/>
                </a:lnTo>
                <a:lnTo>
                  <a:pt x="0" y="5315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2689" y="693955"/>
            <a:ext cx="7537440" cy="10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1"/>
              </a:lnSpc>
            </a:pPr>
            <a:r>
              <a:rPr lang="en-US" sz="802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Résultats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8722" y="2081515"/>
            <a:ext cx="2457946" cy="77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9"/>
              </a:lnSpc>
              <a:spcBef>
                <a:spcPct val="0"/>
              </a:spcBef>
            </a:pPr>
            <a:r>
              <a:rPr lang="en-US" sz="4542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Stacking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88207"/>
            <a:ext cx="16230600" cy="5710585"/>
          </a:xfrm>
          <a:custGeom>
            <a:avLst/>
            <a:gdLst/>
            <a:ahLst/>
            <a:cxnLst/>
            <a:rect r="r" b="b" t="t" l="l"/>
            <a:pathLst>
              <a:path h="5710585" w="16230600">
                <a:moveTo>
                  <a:pt x="0" y="0"/>
                </a:moveTo>
                <a:lnTo>
                  <a:pt x="16230600" y="0"/>
                </a:lnTo>
                <a:lnTo>
                  <a:pt x="16230600" y="5710586"/>
                </a:lnTo>
                <a:lnTo>
                  <a:pt x="0" y="5710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2689" y="693955"/>
            <a:ext cx="7537440" cy="10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1"/>
              </a:lnSpc>
            </a:pPr>
            <a:r>
              <a:rPr lang="en-US" sz="802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Résultats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06287"/>
            <a:ext cx="16461185" cy="5755042"/>
          </a:xfrm>
          <a:custGeom>
            <a:avLst/>
            <a:gdLst/>
            <a:ahLst/>
            <a:cxnLst/>
            <a:rect r="r" b="b" t="t" l="l"/>
            <a:pathLst>
              <a:path h="5755042" w="16461185">
                <a:moveTo>
                  <a:pt x="0" y="0"/>
                </a:moveTo>
                <a:lnTo>
                  <a:pt x="16461185" y="0"/>
                </a:lnTo>
                <a:lnTo>
                  <a:pt x="16461185" y="5755042"/>
                </a:lnTo>
                <a:lnTo>
                  <a:pt x="0" y="5755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2689" y="693955"/>
            <a:ext cx="7537440" cy="104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1"/>
              </a:lnSpc>
            </a:pPr>
            <a:r>
              <a:rPr lang="en-US" sz="802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Résultats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797420" y="2958625"/>
          <a:ext cx="9555106" cy="8229600"/>
        </p:xfrm>
        <a:graphic>
          <a:graphicData uri="http://schemas.openxmlformats.org/presentationml/2006/ole">
            <p:oleObj imgW="11468100" imgH="101346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285875"/>
            <a:ext cx="7537440" cy="167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3"/>
              </a:lnSpc>
            </a:pPr>
            <a:r>
              <a:rPr lang="en-US" sz="1272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Résultats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1846" y="518053"/>
            <a:ext cx="11123216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Limites &amp; Perspectives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700" y="2769057"/>
            <a:ext cx="7327125" cy="246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Limites </a:t>
            </a:r>
          </a:p>
          <a:p>
            <a:pPr algn="l" marL="764601" indent="-382300" lvl="1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Seulement ~400 individus </a:t>
            </a:r>
          </a:p>
          <a:p>
            <a:pPr algn="l" marL="764601" indent="-382300" lvl="1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Données très dimensionnelles </a:t>
            </a:r>
          </a:p>
          <a:p>
            <a:pPr algn="l" marL="764601" indent="-382300" lvl="1">
              <a:lnSpc>
                <a:spcPts val="4958"/>
              </a:lnSpc>
              <a:buFont typeface="Arial"/>
              <a:buChar char="•"/>
            </a:pPr>
            <a:r>
              <a:rPr lang="en-US" sz="354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CpG manquants pour Zhang</a:t>
            </a:r>
            <a:r>
              <a:rPr lang="en-US" sz="3541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59641" y="2788107"/>
            <a:ext cx="6516291" cy="22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Perspectives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Ajouter bases GEO publiques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Fine-tuning complet du DNN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Interprétation SHAP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1745" y="-711720"/>
            <a:ext cx="2163207" cy="3123765"/>
          </a:xfrm>
          <a:custGeom>
            <a:avLst/>
            <a:gdLst/>
            <a:ahLst/>
            <a:cxnLst/>
            <a:rect r="r" b="b" t="t" l="l"/>
            <a:pathLst>
              <a:path h="3123765" w="2163207">
                <a:moveTo>
                  <a:pt x="0" y="0"/>
                </a:moveTo>
                <a:lnTo>
                  <a:pt x="2163207" y="0"/>
                </a:lnTo>
                <a:lnTo>
                  <a:pt x="2163207" y="3123764"/>
                </a:lnTo>
                <a:lnTo>
                  <a:pt x="0" y="3123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79927" y="7808129"/>
            <a:ext cx="2108073" cy="2478871"/>
          </a:xfrm>
          <a:custGeom>
            <a:avLst/>
            <a:gdLst/>
            <a:ahLst/>
            <a:cxnLst/>
            <a:rect r="r" b="b" t="t" l="l"/>
            <a:pathLst>
              <a:path h="2478871" w="2108073">
                <a:moveTo>
                  <a:pt x="0" y="0"/>
                </a:moveTo>
                <a:lnTo>
                  <a:pt x="2108073" y="0"/>
                </a:lnTo>
                <a:lnTo>
                  <a:pt x="2108073" y="2478871"/>
                </a:lnTo>
                <a:lnTo>
                  <a:pt x="0" y="2478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40788">
            <a:off x="2360768" y="3036134"/>
            <a:ext cx="2835823" cy="1013807"/>
          </a:xfrm>
          <a:custGeom>
            <a:avLst/>
            <a:gdLst/>
            <a:ahLst/>
            <a:cxnLst/>
            <a:rect r="r" b="b" t="t" l="l"/>
            <a:pathLst>
              <a:path h="1013807" w="2835823">
                <a:moveTo>
                  <a:pt x="0" y="0"/>
                </a:moveTo>
                <a:lnTo>
                  <a:pt x="2835823" y="0"/>
                </a:lnTo>
                <a:lnTo>
                  <a:pt x="2835823" y="1013806"/>
                </a:lnTo>
                <a:lnTo>
                  <a:pt x="0" y="10138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41325" y="4807476"/>
            <a:ext cx="3225304" cy="60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Modèles testés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179354">
            <a:off x="11257936" y="2755338"/>
            <a:ext cx="2835823" cy="1013807"/>
          </a:xfrm>
          <a:custGeom>
            <a:avLst/>
            <a:gdLst/>
            <a:ahLst/>
            <a:cxnLst/>
            <a:rect r="r" b="b" t="t" l="l"/>
            <a:pathLst>
              <a:path h="1013807" w="2835823">
                <a:moveTo>
                  <a:pt x="0" y="0"/>
                </a:moveTo>
                <a:lnTo>
                  <a:pt x="2835823" y="0"/>
                </a:lnTo>
                <a:lnTo>
                  <a:pt x="2835823" y="1013807"/>
                </a:lnTo>
                <a:lnTo>
                  <a:pt x="0" y="1013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270384">
            <a:off x="12198892" y="6231730"/>
            <a:ext cx="2835823" cy="1013807"/>
          </a:xfrm>
          <a:custGeom>
            <a:avLst/>
            <a:gdLst/>
            <a:ahLst/>
            <a:cxnLst/>
            <a:rect r="r" b="b" t="t" l="l"/>
            <a:pathLst>
              <a:path h="1013807" w="2835823">
                <a:moveTo>
                  <a:pt x="0" y="0"/>
                </a:moveTo>
                <a:lnTo>
                  <a:pt x="2835823" y="0"/>
                </a:lnTo>
                <a:lnTo>
                  <a:pt x="2835823" y="1013807"/>
                </a:lnTo>
                <a:lnTo>
                  <a:pt x="0" y="1013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86540" y="-247650"/>
            <a:ext cx="9395104" cy="218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08"/>
              </a:lnSpc>
              <a:spcBef>
                <a:spcPct val="0"/>
              </a:spcBef>
            </a:pPr>
            <a:r>
              <a:rPr lang="en-US" sz="12720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2114" y="4807476"/>
            <a:ext cx="3025676" cy="60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Prétraitement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4372" y="2656870"/>
            <a:ext cx="5010646" cy="60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Sélection des variables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64508" y="7202757"/>
            <a:ext cx="6010374" cy="60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8"/>
              </a:lnSpc>
              <a:spcBef>
                <a:spcPct val="0"/>
              </a:spcBef>
            </a:pPr>
            <a:r>
              <a:rPr lang="en-US" sz="3541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Stacking 1er avec 2,40 MAE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42413" y="4271967"/>
            <a:ext cx="7203174" cy="200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</a:pPr>
            <a:r>
              <a:rPr lang="en-US" sz="14999">
                <a:solidFill>
                  <a:srgbClr val="333333"/>
                </a:solidFill>
                <a:latin typeface="Lexend Deca"/>
                <a:ea typeface="Lexend Deca"/>
                <a:cs typeface="Lexend Deca"/>
                <a:sym typeface="Lexend Deca"/>
              </a:rPr>
              <a:t>Merci 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700000">
            <a:off x="2643382" y="4995342"/>
            <a:ext cx="1964202" cy="1075400"/>
          </a:xfrm>
          <a:custGeom>
            <a:avLst/>
            <a:gdLst/>
            <a:ahLst/>
            <a:cxnLst/>
            <a:rect r="r" b="b" t="t" l="l"/>
            <a:pathLst>
              <a:path h="1075400" w="1964202">
                <a:moveTo>
                  <a:pt x="0" y="0"/>
                </a:moveTo>
                <a:lnTo>
                  <a:pt x="1964202" y="0"/>
                </a:lnTo>
                <a:lnTo>
                  <a:pt x="1964202" y="1075401"/>
                </a:lnTo>
                <a:lnTo>
                  <a:pt x="0" y="1075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0694" y="2970884"/>
            <a:ext cx="1326215" cy="2450281"/>
          </a:xfrm>
          <a:custGeom>
            <a:avLst/>
            <a:gdLst/>
            <a:ahLst/>
            <a:cxnLst/>
            <a:rect r="r" b="b" t="t" l="l"/>
            <a:pathLst>
              <a:path h="2450281" w="1326215">
                <a:moveTo>
                  <a:pt x="0" y="0"/>
                </a:moveTo>
                <a:lnTo>
                  <a:pt x="1326215" y="0"/>
                </a:lnTo>
                <a:lnTo>
                  <a:pt x="1326215" y="2450281"/>
                </a:lnTo>
                <a:lnTo>
                  <a:pt x="0" y="245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013296" y="1794688"/>
            <a:ext cx="404027" cy="40402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D0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29774" y="7901605"/>
            <a:ext cx="404027" cy="40402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31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DAHH-Ca4aEo</dc:identifier>
  <dcterms:modified xsi:type="dcterms:W3CDTF">2011-08-01T06:04:30Z</dcterms:modified>
  <cp:revision>1</cp:revision>
  <dc:title>Prédiction de l’Âge Biologique par IA à partir des Données de Méthylation ADN</dc:title>
</cp:coreProperties>
</file>